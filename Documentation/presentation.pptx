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7" r:id="rId2"/>
    <p:sldId id="291" r:id="rId3"/>
    <p:sldId id="293" r:id="rId4"/>
    <p:sldId id="300" r:id="rId5"/>
    <p:sldId id="294" r:id="rId6"/>
    <p:sldId id="298" r:id="rId7"/>
    <p:sldId id="295" r:id="rId8"/>
    <p:sldId id="296" r:id="rId9"/>
    <p:sldId id="297" r:id="rId10"/>
    <p:sldId id="299" r:id="rId1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9B8723-A6A6-407D-8A3C-91AD634E361B}">
          <p14:sldIdLst>
            <p14:sldId id="267"/>
            <p14:sldId id="291"/>
            <p14:sldId id="293"/>
            <p14:sldId id="300"/>
            <p14:sldId id="294"/>
            <p14:sldId id="298"/>
            <p14:sldId id="295"/>
            <p14:sldId id="296"/>
            <p14:sldId id="297"/>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DA1278-7371-492F-B586-CAA1256F965F}" v="2" dt="2026-01-30T17:43:23.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10"/>
  </p:normalViewPr>
  <p:slideViewPr>
    <p:cSldViewPr snapToGrid="0" snapToObjects="1">
      <p:cViewPr varScale="1">
        <p:scale>
          <a:sx n="69" d="100"/>
          <a:sy n="69" d="100"/>
        </p:scale>
        <p:origin x="7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982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044204-DBF3-D9EE-C74C-F175B95B8A77}"/>
              </a:ext>
            </a:extLst>
          </p:cNvPr>
          <p:cNvSpPr>
            <a:spLocks noGrp="1"/>
          </p:cNvSpPr>
          <p:nvPr>
            <p:ph type="dt" sz="half" idx="10"/>
          </p:nvPr>
        </p:nvSpPr>
        <p:spPr/>
        <p:txBody>
          <a:bodyPr/>
          <a:lstStyle/>
          <a:p>
            <a:fld id="{9034B56B-B704-4A84-96C6-E2E48F277E36}" type="datetimeFigureOut">
              <a:rPr lang="en-IN" smtClean="0"/>
              <a:t>27-03-2026</a:t>
            </a:fld>
            <a:endParaRPr lang="en-IN"/>
          </a:p>
        </p:txBody>
      </p:sp>
      <p:sp>
        <p:nvSpPr>
          <p:cNvPr id="3" name="Footer Placeholder 2">
            <a:extLst>
              <a:ext uri="{FF2B5EF4-FFF2-40B4-BE49-F238E27FC236}">
                <a16:creationId xmlns:a16="http://schemas.microsoft.com/office/drawing/2014/main" id="{63F4BF22-857A-DB21-67A7-421D2885A4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8636AA-C28B-0312-163B-A75A404307AC}"/>
              </a:ext>
            </a:extLst>
          </p:cNvPr>
          <p:cNvSpPr>
            <a:spLocks noGrp="1"/>
          </p:cNvSpPr>
          <p:nvPr>
            <p:ph type="sldNum" sz="quarter" idx="12"/>
          </p:nvPr>
        </p:nvSpPr>
        <p:spPr/>
        <p:txBody>
          <a:bodyPr/>
          <a:lstStyle/>
          <a:p>
            <a:fld id="{2604D6D2-F126-469A-A4F6-974DB64D6DFA}" type="slidenum">
              <a:rPr lang="en-IN" smtClean="0"/>
              <a:t>‹#›</a:t>
            </a:fld>
            <a:endParaRPr lang="en-IN"/>
          </a:p>
        </p:txBody>
      </p:sp>
    </p:spTree>
    <p:extLst>
      <p:ext uri="{BB962C8B-B14F-4D97-AF65-F5344CB8AC3E}">
        <p14:creationId xmlns:p14="http://schemas.microsoft.com/office/powerpoint/2010/main" val="3259689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cxnSp>
        <p:nvCxnSpPr>
          <p:cNvPr id="32" name="Straight Connector 31"/>
          <p:cNvCxnSpPr/>
          <p:nvPr/>
        </p:nvCxnSpPr>
        <p:spPr>
          <a:xfrm>
            <a:off x="2309586" y="2216506"/>
            <a:ext cx="1051414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4185985"/>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FF7CEED-15D4-BE2F-81DA-01EEE4F2758C}"/>
              </a:ext>
            </a:extLst>
          </p:cNvPr>
          <p:cNvSpPr txBox="1"/>
          <p:nvPr/>
        </p:nvSpPr>
        <p:spPr>
          <a:xfrm>
            <a:off x="1282390" y="464925"/>
            <a:ext cx="12846205" cy="3300904"/>
          </a:xfrm>
          <a:prstGeom prst="rect">
            <a:avLst/>
          </a:prstGeom>
          <a:noFill/>
        </p:spPr>
        <p:txBody>
          <a:bodyPr wrap="square">
            <a:spAutoFit/>
          </a:bodyPr>
          <a:lstStyle/>
          <a:p>
            <a:pPr algn="ctr" defTabSz="914400" fontAlgn="base">
              <a:spcBef>
                <a:spcPct val="0"/>
              </a:spcBef>
              <a:spcAft>
                <a:spcPct val="0"/>
              </a:spcAft>
            </a:pPr>
            <a:r>
              <a:rPr lang="en-US" b="1" dirty="0">
                <a:solidFill>
                  <a:srgbClr val="00B0F0"/>
                </a:solidFill>
                <a:latin typeface="Times New Roman" panose="02020603050405020304" pitchFamily="18" charset="0"/>
                <a:ea typeface="Calibri" pitchFamily="34" charset="0"/>
                <a:cs typeface="Times New Roman" pitchFamily="18" charset="0"/>
              </a:rPr>
              <a:t>Shri. </a:t>
            </a:r>
            <a:r>
              <a:rPr lang="en-US" b="1" dirty="0" err="1">
                <a:solidFill>
                  <a:srgbClr val="00B0F0"/>
                </a:solidFill>
                <a:latin typeface="Times New Roman" panose="02020603050405020304" pitchFamily="18" charset="0"/>
                <a:ea typeface="Calibri" pitchFamily="34" charset="0"/>
                <a:cs typeface="Times New Roman" pitchFamily="18" charset="0"/>
              </a:rPr>
              <a:t>Shamrao</a:t>
            </a:r>
            <a:r>
              <a:rPr lang="en-US" b="1" dirty="0">
                <a:solidFill>
                  <a:srgbClr val="00B0F0"/>
                </a:solidFill>
                <a:latin typeface="Times New Roman" panose="02020603050405020304" pitchFamily="18" charset="0"/>
                <a:ea typeface="Calibri" pitchFamily="34" charset="0"/>
                <a:cs typeface="Times New Roman" pitchFamily="18" charset="0"/>
              </a:rPr>
              <a:t> Patil (</a:t>
            </a:r>
            <a:r>
              <a:rPr lang="en-US" b="1" dirty="0" err="1">
                <a:solidFill>
                  <a:srgbClr val="00B0F0"/>
                </a:solidFill>
                <a:latin typeface="Times New Roman" panose="02020603050405020304" pitchFamily="18" charset="0"/>
                <a:ea typeface="Calibri" pitchFamily="34" charset="0"/>
                <a:cs typeface="Times New Roman" pitchFamily="18" charset="0"/>
              </a:rPr>
              <a:t>Yadravkar</a:t>
            </a:r>
            <a:r>
              <a:rPr lang="en-US" b="1" dirty="0">
                <a:solidFill>
                  <a:srgbClr val="00B0F0"/>
                </a:solidFill>
                <a:latin typeface="Times New Roman" panose="02020603050405020304" pitchFamily="18" charset="0"/>
                <a:ea typeface="Calibri" pitchFamily="34" charset="0"/>
                <a:cs typeface="Times New Roman" pitchFamily="18" charset="0"/>
              </a:rPr>
              <a:t>) Educational &amp; Charitable Trust’s</a:t>
            </a:r>
          </a:p>
          <a:p>
            <a:pPr algn="ctr" defTabSz="914400" eaLnBrk="0" fontAlgn="base" hangingPunct="0">
              <a:spcBef>
                <a:spcPct val="0"/>
              </a:spcBef>
              <a:spcAft>
                <a:spcPct val="0"/>
              </a:spcAft>
            </a:pPr>
            <a:r>
              <a:rPr lang="en-US" sz="2800" b="1" dirty="0">
                <a:solidFill>
                  <a:srgbClr val="C00000"/>
                </a:solidFill>
                <a:latin typeface="Times New Roman" panose="02020603050405020304" pitchFamily="18" charset="0"/>
                <a:ea typeface="Calibri" pitchFamily="34" charset="0"/>
                <a:cs typeface="Times New Roman" pitchFamily="18" charset="0"/>
              </a:rPr>
              <a:t>Sharad Institute of Technology’s College of Engineering ,</a:t>
            </a:r>
          </a:p>
          <a:p>
            <a:pPr algn="ctr" defTabSz="914400" eaLnBrk="0" fontAlgn="base" hangingPunct="0">
              <a:spcBef>
                <a:spcPct val="0"/>
              </a:spcBef>
              <a:spcAft>
                <a:spcPct val="0"/>
              </a:spcAft>
            </a:pPr>
            <a:r>
              <a:rPr lang="en-US" sz="2800" b="1" dirty="0">
                <a:solidFill>
                  <a:srgbClr val="C00000"/>
                </a:solidFill>
                <a:latin typeface="Times New Roman" panose="02020603050405020304" pitchFamily="18" charset="0"/>
                <a:ea typeface="Calibri" pitchFamily="34" charset="0"/>
                <a:cs typeface="Times New Roman" pitchFamily="18" charset="0"/>
              </a:rPr>
              <a:t> </a:t>
            </a:r>
            <a:r>
              <a:rPr lang="en-US" sz="2800" b="1" dirty="0" err="1">
                <a:solidFill>
                  <a:srgbClr val="C00000"/>
                </a:solidFill>
                <a:latin typeface="Times New Roman" panose="02020603050405020304" pitchFamily="18" charset="0"/>
                <a:ea typeface="Calibri" pitchFamily="34" charset="0"/>
                <a:cs typeface="Times New Roman" pitchFamily="18" charset="0"/>
              </a:rPr>
              <a:t>Yadrav</a:t>
            </a:r>
            <a:r>
              <a:rPr lang="en-US" sz="2800" b="1" dirty="0">
                <a:solidFill>
                  <a:srgbClr val="C00000"/>
                </a:solidFill>
                <a:latin typeface="Times New Roman" panose="02020603050405020304" pitchFamily="18" charset="0"/>
                <a:ea typeface="Calibri" pitchFamily="34" charset="0"/>
                <a:cs typeface="Times New Roman" pitchFamily="18" charset="0"/>
              </a:rPr>
              <a:t> ( </a:t>
            </a:r>
            <a:r>
              <a:rPr lang="en-US" sz="2800" b="1" dirty="0" err="1">
                <a:solidFill>
                  <a:srgbClr val="C00000"/>
                </a:solidFill>
                <a:latin typeface="Times New Roman" panose="02020603050405020304" pitchFamily="18" charset="0"/>
                <a:ea typeface="Calibri" pitchFamily="34" charset="0"/>
                <a:cs typeface="Times New Roman" pitchFamily="18" charset="0"/>
              </a:rPr>
              <a:t>Ichalkaranji</a:t>
            </a:r>
            <a:r>
              <a:rPr lang="en-US" sz="2800" b="1" dirty="0">
                <a:solidFill>
                  <a:srgbClr val="C00000"/>
                </a:solidFill>
                <a:latin typeface="Times New Roman" panose="02020603050405020304" pitchFamily="18" charset="0"/>
                <a:ea typeface="Calibri" pitchFamily="34" charset="0"/>
                <a:cs typeface="Times New Roman" pitchFamily="18" charset="0"/>
              </a:rPr>
              <a:t>)</a:t>
            </a:r>
          </a:p>
          <a:p>
            <a:pPr algn="ctr" eaLnBrk="0" fontAlgn="base" hangingPunct="0">
              <a:spcBef>
                <a:spcPct val="0"/>
              </a:spcBef>
              <a:spcAft>
                <a:spcPct val="0"/>
              </a:spcAft>
            </a:pPr>
            <a:r>
              <a:rPr lang="en-US" b="1" dirty="0">
                <a:solidFill>
                  <a:schemeClr val="accent6">
                    <a:lumMod val="50000"/>
                  </a:schemeClr>
                </a:solidFill>
                <a:latin typeface="Times New Roman" panose="02020603050405020304" pitchFamily="18" charset="0"/>
                <a:ea typeface="Calibri" pitchFamily="34" charset="0"/>
                <a:cs typeface="Times New Roman" pitchFamily="18" charset="0"/>
              </a:rPr>
              <a:t>NBA Accredited Programmers. An ‘A’ Grade Institute Accredited By NAAC, An ISO 9001:2015 Accredited</a:t>
            </a:r>
          </a:p>
          <a:p>
            <a:pPr algn="ctr" defTabSz="914400" eaLnBrk="0" fontAlgn="base" hangingPunct="0">
              <a:spcBef>
                <a:spcPct val="0"/>
              </a:spcBef>
              <a:spcAft>
                <a:spcPct val="0"/>
              </a:spcAft>
            </a:pPr>
            <a:endParaRPr lang="en-US" sz="1050"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pPr>
            <a:r>
              <a:rPr lang="en-US" sz="2800" b="1" dirty="0">
                <a:solidFill>
                  <a:srgbClr val="0070C0"/>
                </a:solidFill>
                <a:latin typeface="Times New Roman" panose="02020603050405020304" pitchFamily="18" charset="0"/>
                <a:ea typeface="Calibri" pitchFamily="34" charset="0"/>
                <a:cs typeface="Times New Roman" pitchFamily="18" charset="0"/>
              </a:rPr>
              <a:t>	             Department of Electronics &amp;Computer Engineering</a:t>
            </a:r>
          </a:p>
          <a:p>
            <a:pPr algn="ctr" defTabSz="914400" eaLnBrk="0" fontAlgn="base" hangingPunct="0">
              <a:spcBef>
                <a:spcPct val="0"/>
              </a:spcBef>
              <a:spcAft>
                <a:spcPct val="0"/>
              </a:spcAft>
            </a:pPr>
            <a:r>
              <a:rPr lang="en-US" sz="3200" b="1" dirty="0">
                <a:solidFill>
                  <a:srgbClr val="0070C0"/>
                </a:solidFill>
                <a:latin typeface="Times New Roman" panose="02020603050405020304" pitchFamily="18" charset="0"/>
                <a:ea typeface="Calibri" pitchFamily="34" charset="0"/>
                <a:cs typeface="Times New Roman" pitchFamily="18" charset="0"/>
              </a:rPr>
              <a:t>Synopsis Presentation</a:t>
            </a:r>
          </a:p>
          <a:p>
            <a:pPr defTabSz="914400" eaLnBrk="0" fontAlgn="base" hangingPunct="0">
              <a:spcBef>
                <a:spcPct val="0"/>
              </a:spcBef>
              <a:spcAft>
                <a:spcPct val="0"/>
              </a:spcAft>
            </a:pPr>
            <a:r>
              <a:rPr lang="en-US" b="1" dirty="0">
                <a:solidFill>
                  <a:srgbClr val="0070C0"/>
                </a:solidFill>
                <a:latin typeface="Times New Roman" panose="02020603050405020304" pitchFamily="18" charset="0"/>
                <a:ea typeface="Calibri" pitchFamily="34" charset="0"/>
                <a:cs typeface="Times New Roman" pitchFamily="18" charset="0"/>
              </a:rPr>
              <a:t>			                                      Academic Year 2026-27</a:t>
            </a:r>
          </a:p>
          <a:p>
            <a:pPr defTabSz="914400" eaLnBrk="0" fontAlgn="base" hangingPunct="0">
              <a:spcBef>
                <a:spcPct val="0"/>
              </a:spcBef>
              <a:spcAft>
                <a:spcPct val="0"/>
              </a:spcAft>
            </a:pPr>
            <a:r>
              <a:rPr lang="en-US" sz="2800" b="1" dirty="0">
                <a:solidFill>
                  <a:srgbClr val="0070C0"/>
                </a:solidFill>
                <a:latin typeface="Times New Roman" panose="02020603050405020304" pitchFamily="18" charset="0"/>
                <a:ea typeface="Calibri" pitchFamily="34" charset="0"/>
                <a:cs typeface="Times New Roman" pitchFamily="18" charset="0"/>
              </a:rPr>
              <a:t>                                             </a:t>
            </a:r>
            <a:endParaRPr lang="en-US" sz="2800" b="1" dirty="0">
              <a:solidFill>
                <a:srgbClr val="FF0000"/>
              </a:solidFill>
              <a:latin typeface="Times New Roman" panose="02020603050405020304" pitchFamily="18" charset="0"/>
              <a:ea typeface="Calibri" pitchFamily="34" charset="0"/>
              <a:cs typeface="Times New Roman" pitchFamily="18" charset="0"/>
            </a:endParaRPr>
          </a:p>
        </p:txBody>
      </p:sp>
      <p:pic>
        <p:nvPicPr>
          <p:cNvPr id="7" name="Picture 6">
            <a:extLst>
              <a:ext uri="{FF2B5EF4-FFF2-40B4-BE49-F238E27FC236}">
                <a16:creationId xmlns:a16="http://schemas.microsoft.com/office/drawing/2014/main" id="{40614810-BB50-FC00-F3DB-3E20B86F3BC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803" y="406274"/>
            <a:ext cx="990600" cy="990600"/>
          </a:xfrm>
          <a:prstGeom prst="rect">
            <a:avLst/>
          </a:prstGeom>
          <a:blipFill>
            <a:blip r:embed="rId3"/>
            <a:tile tx="0" ty="0" sx="100000" sy="100000" flip="none" algn="tl"/>
          </a:blipFill>
          <a:ln w="9525">
            <a:noFill/>
            <a:miter lim="800000"/>
            <a:headEnd/>
            <a:tailEnd/>
          </a:ln>
        </p:spPr>
      </p:pic>
      <p:graphicFrame>
        <p:nvGraphicFramePr>
          <p:cNvPr id="8" name="Table 7">
            <a:extLst>
              <a:ext uri="{FF2B5EF4-FFF2-40B4-BE49-F238E27FC236}">
                <a16:creationId xmlns:a16="http://schemas.microsoft.com/office/drawing/2014/main" id="{A40789DB-DD92-6072-B1BE-74F53A8612C2}"/>
              </a:ext>
            </a:extLst>
          </p:cNvPr>
          <p:cNvGraphicFramePr>
            <a:graphicFrameLocks noGrp="1"/>
          </p:cNvGraphicFramePr>
          <p:nvPr>
            <p:extLst>
              <p:ext uri="{D42A27DB-BD31-4B8C-83A1-F6EECF244321}">
                <p14:modId xmlns:p14="http://schemas.microsoft.com/office/powerpoint/2010/main" val="1209272677"/>
              </p:ext>
            </p:extLst>
          </p:nvPr>
        </p:nvGraphicFramePr>
        <p:xfrm>
          <a:off x="2936977" y="4142213"/>
          <a:ext cx="8756445" cy="1980109"/>
        </p:xfrm>
        <a:graphic>
          <a:graphicData uri="http://schemas.openxmlformats.org/drawingml/2006/table">
            <a:tbl>
              <a:tblPr firstRow="1" bandRow="1">
                <a:tableStyleId>{5940675A-B579-460E-94D1-54222C63F5DA}</a:tableStyleId>
              </a:tblPr>
              <a:tblGrid>
                <a:gridCol w="4149422">
                  <a:extLst>
                    <a:ext uri="{9D8B030D-6E8A-4147-A177-3AD203B41FA5}">
                      <a16:colId xmlns:a16="http://schemas.microsoft.com/office/drawing/2014/main" val="2868942978"/>
                    </a:ext>
                  </a:extLst>
                </a:gridCol>
                <a:gridCol w="1580746">
                  <a:extLst>
                    <a:ext uri="{9D8B030D-6E8A-4147-A177-3AD203B41FA5}">
                      <a16:colId xmlns:a16="http://schemas.microsoft.com/office/drawing/2014/main" val="1695789424"/>
                    </a:ext>
                  </a:extLst>
                </a:gridCol>
                <a:gridCol w="3026277">
                  <a:extLst>
                    <a:ext uri="{9D8B030D-6E8A-4147-A177-3AD203B41FA5}">
                      <a16:colId xmlns:a16="http://schemas.microsoft.com/office/drawing/2014/main" val="3322398440"/>
                    </a:ext>
                  </a:extLst>
                </a:gridCol>
              </a:tblGrid>
              <a:tr h="391410">
                <a:tc>
                  <a:txBody>
                    <a:bodyPr/>
                    <a:lstStyle/>
                    <a:p>
                      <a:r>
                        <a:rPr lang="en-US" dirty="0"/>
                        <a:t>              </a:t>
                      </a:r>
                      <a:r>
                        <a:rPr lang="en-US" b="1" dirty="0"/>
                        <a:t>Name</a:t>
                      </a:r>
                      <a:endParaRPr lang="en-IN" b="1" dirty="0"/>
                    </a:p>
                  </a:txBody>
                  <a:tcPr/>
                </a:tc>
                <a:tc>
                  <a:txBody>
                    <a:bodyPr/>
                    <a:lstStyle/>
                    <a:p>
                      <a:r>
                        <a:rPr lang="en-US" dirty="0"/>
                        <a:t>                 </a:t>
                      </a:r>
                      <a:r>
                        <a:rPr lang="en-US" b="1" dirty="0"/>
                        <a:t>Div</a:t>
                      </a:r>
                      <a:endParaRPr lang="en-IN" b="1" dirty="0"/>
                    </a:p>
                  </a:txBody>
                  <a:tcPr/>
                </a:tc>
                <a:tc>
                  <a:txBody>
                    <a:bodyPr/>
                    <a:lstStyle/>
                    <a:p>
                      <a:r>
                        <a:rPr lang="en-US" b="1" dirty="0"/>
                        <a:t>               Roll No</a:t>
                      </a:r>
                      <a:endParaRPr lang="en-IN" b="1" dirty="0"/>
                    </a:p>
                  </a:txBody>
                  <a:tcPr/>
                </a:tc>
                <a:extLst>
                  <a:ext uri="{0D108BD9-81ED-4DB2-BD59-A6C34878D82A}">
                    <a16:rowId xmlns:a16="http://schemas.microsoft.com/office/drawing/2014/main" val="3172933961"/>
                  </a:ext>
                </a:extLst>
              </a:tr>
              <a:tr h="414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dirty="0">
                          <a:effectLst/>
                          <a:latin typeface="Calibri" panose="020F0502020204030204" pitchFamily="34" charset="0"/>
                          <a:ea typeface="Calibri" panose="020F0502020204030204" pitchFamily="34" charset="0"/>
                        </a:rPr>
                        <a:t>Mr. Kiran Manohar Maske </a:t>
                      </a:r>
                      <a:endParaRPr lang="en-IN" dirty="0"/>
                    </a:p>
                  </a:txBody>
                  <a:tcPr/>
                </a:tc>
                <a:tc>
                  <a:txBody>
                    <a:bodyPr/>
                    <a:lstStyle/>
                    <a:p>
                      <a:r>
                        <a:rPr lang="en-US" dirty="0"/>
                        <a:t>                   A</a:t>
                      </a:r>
                      <a:endParaRPr lang="en-IN" dirty="0"/>
                    </a:p>
                  </a:txBody>
                  <a:tcPr/>
                </a:tc>
                <a:tc>
                  <a:txBody>
                    <a:bodyPr/>
                    <a:lstStyle/>
                    <a:p>
                      <a:r>
                        <a:rPr lang="en-US" dirty="0"/>
                        <a:t>                    52</a:t>
                      </a:r>
                      <a:endParaRPr lang="en-IN" dirty="0"/>
                    </a:p>
                  </a:txBody>
                  <a:tcPr/>
                </a:tc>
                <a:extLst>
                  <a:ext uri="{0D108BD9-81ED-4DB2-BD59-A6C34878D82A}">
                    <a16:rowId xmlns:a16="http://schemas.microsoft.com/office/drawing/2014/main" val="800484286"/>
                  </a:ext>
                </a:extLst>
              </a:tr>
              <a:tr h="391410">
                <a:tc>
                  <a:txBody>
                    <a:bodyPr/>
                    <a:lstStyle/>
                    <a:p>
                      <a:r>
                        <a:rPr lang="en-US" dirty="0"/>
                        <a:t> </a:t>
                      </a:r>
                      <a:r>
                        <a:rPr lang="en-US" sz="1800" dirty="0">
                          <a:effectLst/>
                          <a:latin typeface="Calibri" panose="020F0502020204030204" pitchFamily="34" charset="0"/>
                          <a:ea typeface="Calibri" panose="020F0502020204030204" pitchFamily="34" charset="0"/>
                        </a:rPr>
                        <a:t>Mr. Pratik Sunil Shinde</a:t>
                      </a:r>
                      <a:endParaRPr lang="en-IN" dirty="0"/>
                    </a:p>
                  </a:txBody>
                  <a:tcPr/>
                </a:tc>
                <a:tc>
                  <a:txBody>
                    <a:bodyPr/>
                    <a:lstStyle/>
                    <a:p>
                      <a:r>
                        <a:rPr lang="en-US" dirty="0"/>
                        <a:t>                   A</a:t>
                      </a:r>
                      <a:endParaRPr lang="en-IN" dirty="0"/>
                    </a:p>
                  </a:txBody>
                  <a:tcPr/>
                </a:tc>
                <a:tc>
                  <a:txBody>
                    <a:bodyPr/>
                    <a:lstStyle/>
                    <a:p>
                      <a:r>
                        <a:rPr lang="en-US" dirty="0"/>
                        <a:t>                    67</a:t>
                      </a:r>
                      <a:endParaRPr lang="en-IN" dirty="0"/>
                    </a:p>
                  </a:txBody>
                  <a:tcPr/>
                </a:tc>
                <a:extLst>
                  <a:ext uri="{0D108BD9-81ED-4DB2-BD59-A6C34878D82A}">
                    <a16:rowId xmlns:a16="http://schemas.microsoft.com/office/drawing/2014/main" val="1697016227"/>
                  </a:ext>
                </a:extLst>
              </a:tr>
              <a:tr h="391410">
                <a:tc>
                  <a:txBody>
                    <a:bodyPr/>
                    <a:lstStyle/>
                    <a:p>
                      <a:r>
                        <a:rPr lang="en-US" dirty="0"/>
                        <a:t> Mr</a:t>
                      </a:r>
                      <a:r>
                        <a:rPr lang="en-US" sz="1800" dirty="0">
                          <a:effectLst/>
                          <a:latin typeface="Calibri" panose="020F0502020204030204" pitchFamily="34" charset="0"/>
                          <a:ea typeface="Calibri" panose="020F0502020204030204" pitchFamily="34" charset="0"/>
                        </a:rPr>
                        <a:t>. Shital Sanjay Patil</a:t>
                      </a:r>
                      <a:endParaRPr lang="en-IN" dirty="0"/>
                    </a:p>
                  </a:txBody>
                  <a:tcPr/>
                </a:tc>
                <a:tc>
                  <a:txBody>
                    <a:bodyPr/>
                    <a:lstStyle/>
                    <a:p>
                      <a:r>
                        <a:rPr lang="en-US" dirty="0"/>
                        <a:t>                   A</a:t>
                      </a:r>
                      <a:endParaRPr lang="en-IN" dirty="0"/>
                    </a:p>
                  </a:txBody>
                  <a:tcPr/>
                </a:tc>
                <a:tc>
                  <a:txBody>
                    <a:bodyPr/>
                    <a:lstStyle/>
                    <a:p>
                      <a:r>
                        <a:rPr lang="en-US" dirty="0"/>
                        <a:t>                    58</a:t>
                      </a:r>
                      <a:endParaRPr lang="en-IN" dirty="0"/>
                    </a:p>
                  </a:txBody>
                  <a:tcPr/>
                </a:tc>
                <a:extLst>
                  <a:ext uri="{0D108BD9-81ED-4DB2-BD59-A6C34878D82A}">
                    <a16:rowId xmlns:a16="http://schemas.microsoft.com/office/drawing/2014/main" val="3475368499"/>
                  </a:ext>
                </a:extLst>
              </a:tr>
              <a:tr h="391410">
                <a:tc>
                  <a:txBody>
                    <a:bodyPr/>
                    <a:lstStyle/>
                    <a:p>
                      <a:r>
                        <a:rPr lang="en-US" dirty="0"/>
                        <a:t> </a:t>
                      </a:r>
                      <a:r>
                        <a:rPr lang="en-US" sz="1800" dirty="0">
                          <a:effectLst/>
                          <a:latin typeface="Calibri" panose="020F0502020204030204" pitchFamily="34" charset="0"/>
                          <a:ea typeface="Calibri" panose="020F0502020204030204" pitchFamily="34" charset="0"/>
                        </a:rPr>
                        <a:t>Mr. Prajyot Ganapati </a:t>
                      </a:r>
                      <a:r>
                        <a:rPr lang="en-US" sz="1800" dirty="0" err="1">
                          <a:effectLst/>
                          <a:latin typeface="Calibri" panose="020F0502020204030204" pitchFamily="34" charset="0"/>
                          <a:ea typeface="Calibri" panose="020F0502020204030204" pitchFamily="34" charset="0"/>
                        </a:rPr>
                        <a:t>Yejare</a:t>
                      </a:r>
                      <a:endParaRPr lang="en-IN" dirty="0"/>
                    </a:p>
                  </a:txBody>
                  <a:tcPr/>
                </a:tc>
                <a:tc>
                  <a:txBody>
                    <a:bodyPr/>
                    <a:lstStyle/>
                    <a:p>
                      <a:r>
                        <a:rPr lang="en-US" dirty="0"/>
                        <a:t>                   A</a:t>
                      </a:r>
                      <a:endParaRPr lang="en-IN" dirty="0"/>
                    </a:p>
                  </a:txBody>
                  <a:tcPr/>
                </a:tc>
                <a:tc>
                  <a:txBody>
                    <a:bodyPr/>
                    <a:lstStyle/>
                    <a:p>
                      <a:r>
                        <a:rPr lang="en-US" dirty="0"/>
                        <a:t>                    50</a:t>
                      </a:r>
                      <a:endParaRPr lang="en-IN" dirty="0"/>
                    </a:p>
                  </a:txBody>
                  <a:tcPr/>
                </a:tc>
                <a:extLst>
                  <a:ext uri="{0D108BD9-81ED-4DB2-BD59-A6C34878D82A}">
                    <a16:rowId xmlns:a16="http://schemas.microsoft.com/office/drawing/2014/main" val="870911823"/>
                  </a:ext>
                </a:extLst>
              </a:tr>
            </a:tbl>
          </a:graphicData>
        </a:graphic>
      </p:graphicFrame>
      <p:sp>
        <p:nvSpPr>
          <p:cNvPr id="10" name="TextBox 9">
            <a:extLst>
              <a:ext uri="{FF2B5EF4-FFF2-40B4-BE49-F238E27FC236}">
                <a16:creationId xmlns:a16="http://schemas.microsoft.com/office/drawing/2014/main" id="{418D93B7-3A07-98D1-90B6-97F08A9C8E27}"/>
              </a:ext>
            </a:extLst>
          </p:cNvPr>
          <p:cNvSpPr txBox="1"/>
          <p:nvPr/>
        </p:nvSpPr>
        <p:spPr>
          <a:xfrm>
            <a:off x="1964403" y="6498706"/>
            <a:ext cx="7315200" cy="369332"/>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rPr>
              <a:t>Mega</a:t>
            </a:r>
            <a:r>
              <a:rPr lang="en-US" sz="1800" b="1" dirty="0">
                <a:latin typeface="Calibri" panose="020F0502020204030204" pitchFamily="34" charset="0"/>
                <a:ea typeface="Calibri" panose="020F0502020204030204" pitchFamily="34" charset="0"/>
              </a:rPr>
              <a:t> Project Guide:-  Ms. B.</a:t>
            </a:r>
            <a:r>
              <a:rPr lang="en-US" b="1" dirty="0">
                <a:latin typeface="Calibri" panose="020F0502020204030204" pitchFamily="34" charset="0"/>
                <a:ea typeface="Calibri" panose="020F0502020204030204" pitchFamily="34" charset="0"/>
              </a:rPr>
              <a:t>K</a:t>
            </a:r>
            <a:r>
              <a:rPr lang="en-US" sz="1800" b="1" dirty="0">
                <a:latin typeface="Calibri" panose="020F0502020204030204" pitchFamily="34" charset="0"/>
                <a:ea typeface="Calibri" panose="020F0502020204030204" pitchFamily="34" charset="0"/>
              </a:rPr>
              <a:t>. </a:t>
            </a:r>
            <a:r>
              <a:rPr lang="en-US" b="1" dirty="0">
                <a:latin typeface="Calibri" panose="020F0502020204030204" pitchFamily="34" charset="0"/>
                <a:ea typeface="Calibri" panose="020F0502020204030204" pitchFamily="34" charset="0"/>
              </a:rPr>
              <a:t>Jagtap</a:t>
            </a:r>
            <a:endParaRPr lang="en-IN" dirty="0"/>
          </a:p>
        </p:txBody>
      </p:sp>
    </p:spTree>
    <p:extLst>
      <p:ext uri="{BB962C8B-B14F-4D97-AF65-F5344CB8AC3E}">
        <p14:creationId xmlns:p14="http://schemas.microsoft.com/office/powerpoint/2010/main" val="3818813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A33D00-218D-6CCE-095B-F3914D2674EA}"/>
              </a:ext>
            </a:extLst>
          </p:cNvPr>
          <p:cNvSpPr txBox="1"/>
          <p:nvPr/>
        </p:nvSpPr>
        <p:spPr>
          <a:xfrm>
            <a:off x="1065372" y="1896421"/>
            <a:ext cx="12333248" cy="5509200"/>
          </a:xfrm>
          <a:prstGeom prst="rect">
            <a:avLst/>
          </a:prstGeom>
          <a:noFill/>
        </p:spPr>
        <p:txBody>
          <a:bodyPr wrap="square">
            <a:spAutoFit/>
          </a:bodyPr>
          <a:lstStyle/>
          <a:p>
            <a:pPr algn="just"/>
            <a:r>
              <a:rPr lang="en-US" sz="3200" dirty="0"/>
              <a:t>The increasing demand for electrical energy and the depletion of conventional energy resources have created a need for alternative renewable energy sources. Road traffic produces a large amount of noise energy, which is generally considered as environmental pollution. Instead of wasting this energy, it can be harvested and converted into useful electrical power. Noise energy harvesting uses techniques such as piezoelectric, electromagnetic, and triboelectric methods to convert sound vibrations into electricity. This approach can help in powering low-energy devices such as sensors, IoT systems, and smart road infrastructure, contributing to sustainable and eco-friendly power generation.</a:t>
            </a:r>
            <a:endParaRPr lang="en-IN" sz="3200" dirty="0"/>
          </a:p>
        </p:txBody>
      </p:sp>
      <p:sp>
        <p:nvSpPr>
          <p:cNvPr id="2" name="Rectangle 1">
            <a:extLst>
              <a:ext uri="{FF2B5EF4-FFF2-40B4-BE49-F238E27FC236}">
                <a16:creationId xmlns:a16="http://schemas.microsoft.com/office/drawing/2014/main" id="{728AFAC3-E672-20D6-5BFE-D26F811EE138}"/>
              </a:ext>
            </a:extLst>
          </p:cNvPr>
          <p:cNvSpPr/>
          <p:nvPr/>
        </p:nvSpPr>
        <p:spPr>
          <a:xfrm>
            <a:off x="1065372" y="910834"/>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sz="4000" b="1" dirty="0"/>
              <a:t>       Introduction</a:t>
            </a:r>
          </a:p>
        </p:txBody>
      </p:sp>
    </p:spTree>
    <p:extLst>
      <p:ext uri="{BB962C8B-B14F-4D97-AF65-F5344CB8AC3E}">
        <p14:creationId xmlns:p14="http://schemas.microsoft.com/office/powerpoint/2010/main" val="3863862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8AFAC3-E672-20D6-5BFE-D26F811EE138}"/>
              </a:ext>
            </a:extLst>
          </p:cNvPr>
          <p:cNvSpPr/>
          <p:nvPr/>
        </p:nvSpPr>
        <p:spPr>
          <a:xfrm>
            <a:off x="1143000" y="459468"/>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sz="4000" b="1" dirty="0">
                <a:solidFill>
                  <a:schemeClr val="tx1">
                    <a:lumMod val="95000"/>
                    <a:lumOff val="5000"/>
                  </a:schemeClr>
                </a:solidFill>
              </a:rPr>
              <a:t>        Block Diagram</a:t>
            </a:r>
          </a:p>
        </p:txBody>
      </p:sp>
      <p:sp>
        <p:nvSpPr>
          <p:cNvPr id="8" name="AutoShape 10" descr="Generated image: Noise energy harvesting system diagram">
            <a:extLst>
              <a:ext uri="{FF2B5EF4-FFF2-40B4-BE49-F238E27FC236}">
                <a16:creationId xmlns:a16="http://schemas.microsoft.com/office/drawing/2014/main" id="{4A8701B8-9430-6337-39CE-1C2652CDE316}"/>
              </a:ext>
            </a:extLst>
          </p:cNvPr>
          <p:cNvSpPr>
            <a:spLocks noChangeAspect="1" noChangeArrowheads="1"/>
          </p:cNvSpPr>
          <p:nvPr/>
        </p:nvSpPr>
        <p:spPr bwMode="auto">
          <a:xfrm>
            <a:off x="7162800" y="3962400"/>
            <a:ext cx="1836234" cy="183623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9BF9AFAF-E397-A3E4-1CEF-4D0CAEF894D8}"/>
              </a:ext>
            </a:extLst>
          </p:cNvPr>
          <p:cNvPicPr>
            <a:picLocks noChangeAspect="1"/>
          </p:cNvPicPr>
          <p:nvPr/>
        </p:nvPicPr>
        <p:blipFill>
          <a:blip r:embed="rId2"/>
          <a:stretch>
            <a:fillRect/>
          </a:stretch>
        </p:blipFill>
        <p:spPr>
          <a:xfrm>
            <a:off x="1143000" y="1460810"/>
            <a:ext cx="12344400" cy="5776332"/>
          </a:xfrm>
          <a:prstGeom prst="rect">
            <a:avLst/>
          </a:prstGeom>
        </p:spPr>
      </p:pic>
    </p:spTree>
    <p:extLst>
      <p:ext uri="{BB962C8B-B14F-4D97-AF65-F5344CB8AC3E}">
        <p14:creationId xmlns:p14="http://schemas.microsoft.com/office/powerpoint/2010/main" val="1598531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C727FE-090B-0279-7D84-E09C2725786B}"/>
              </a:ext>
            </a:extLst>
          </p:cNvPr>
          <p:cNvSpPr/>
          <p:nvPr/>
        </p:nvSpPr>
        <p:spPr>
          <a:xfrm>
            <a:off x="1006182" y="447183"/>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IN" sz="4000" b="1" dirty="0">
                <a:solidFill>
                  <a:schemeClr val="tx1">
                    <a:lumMod val="95000"/>
                    <a:lumOff val="5000"/>
                  </a:schemeClr>
                </a:solidFill>
              </a:rPr>
              <a:t>        Circuit Diagram</a:t>
            </a:r>
          </a:p>
        </p:txBody>
      </p:sp>
      <p:pic>
        <p:nvPicPr>
          <p:cNvPr id="5" name="Picture 4">
            <a:extLst>
              <a:ext uri="{FF2B5EF4-FFF2-40B4-BE49-F238E27FC236}">
                <a16:creationId xmlns:a16="http://schemas.microsoft.com/office/drawing/2014/main" id="{982B8E44-BC68-7569-ABD8-109842ACD8BE}"/>
              </a:ext>
            </a:extLst>
          </p:cNvPr>
          <p:cNvPicPr>
            <a:picLocks noChangeAspect="1"/>
          </p:cNvPicPr>
          <p:nvPr/>
        </p:nvPicPr>
        <p:blipFill>
          <a:blip r:embed="rId2"/>
          <a:stretch>
            <a:fillRect/>
          </a:stretch>
        </p:blipFill>
        <p:spPr>
          <a:xfrm>
            <a:off x="1006182" y="1127406"/>
            <a:ext cx="12344400" cy="6869151"/>
          </a:xfrm>
          <a:prstGeom prst="rect">
            <a:avLst/>
          </a:prstGeom>
        </p:spPr>
      </p:pic>
    </p:spTree>
    <p:extLst>
      <p:ext uri="{BB962C8B-B14F-4D97-AF65-F5344CB8AC3E}">
        <p14:creationId xmlns:p14="http://schemas.microsoft.com/office/powerpoint/2010/main" val="321988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4DD7BA-4035-338E-5D52-6655398FBB2A}"/>
              </a:ext>
            </a:extLst>
          </p:cNvPr>
          <p:cNvSpPr txBox="1"/>
          <p:nvPr/>
        </p:nvSpPr>
        <p:spPr>
          <a:xfrm>
            <a:off x="634921" y="1811102"/>
            <a:ext cx="13360557" cy="6494085"/>
          </a:xfrm>
          <a:prstGeom prst="rect">
            <a:avLst/>
          </a:prstGeom>
          <a:noFill/>
        </p:spPr>
        <p:txBody>
          <a:bodyPr wrap="square" rtlCol="0">
            <a:spAutoFit/>
          </a:bodyPr>
          <a:lstStyle/>
          <a:p>
            <a:pPr algn="just"/>
            <a:r>
              <a:rPr lang="en-US" sz="3200" dirty="0"/>
              <a:t>1. Road traffic produces continuous noise in the form of sound waves.</a:t>
            </a:r>
          </a:p>
          <a:p>
            <a:pPr algn="just"/>
            <a:r>
              <a:rPr lang="en-US" sz="3200" dirty="0"/>
              <a:t>2. These sound waves create mechanical vibrations in the surrounding air or             structures.</a:t>
            </a:r>
          </a:p>
          <a:p>
            <a:pPr algn="just"/>
            <a:r>
              <a:rPr lang="en-US" sz="3200" dirty="0"/>
              <a:t>3. The vibrations are captured by an energy harvesting device such as a </a:t>
            </a:r>
            <a:r>
              <a:rPr lang="en-US" sz="3200" b="1" dirty="0"/>
              <a:t>piezoelectric, electromagnetic, or triboelectric sensor</a:t>
            </a:r>
            <a:r>
              <a:rPr lang="en-US" sz="3200" dirty="0"/>
              <a:t>.</a:t>
            </a:r>
          </a:p>
          <a:p>
            <a:pPr algn="just"/>
            <a:r>
              <a:rPr lang="en-US" sz="3200" dirty="0"/>
              <a:t>4. The mechanical vibrations are converted into </a:t>
            </a:r>
            <a:r>
              <a:rPr lang="en-US" sz="3200" b="1" dirty="0"/>
              <a:t>electrical energy</a:t>
            </a:r>
            <a:r>
              <a:rPr lang="en-US" sz="3200" dirty="0"/>
              <a:t> using the selected transduction mechanism.</a:t>
            </a:r>
          </a:p>
          <a:p>
            <a:pPr algn="just"/>
            <a:r>
              <a:rPr lang="en-US" sz="3200" dirty="0"/>
              <a:t>5. The generated AC electrical signal is converted into DC using a </a:t>
            </a:r>
            <a:r>
              <a:rPr lang="en-US" sz="3200" b="1" dirty="0"/>
              <a:t>rectifier circuit</a:t>
            </a:r>
            <a:r>
              <a:rPr lang="en-US" sz="3200" dirty="0"/>
              <a:t>.</a:t>
            </a:r>
          </a:p>
          <a:p>
            <a:pPr algn="just"/>
            <a:r>
              <a:rPr lang="en-US" sz="3200" dirty="0"/>
              <a:t>6. The converted energy is stored in a </a:t>
            </a:r>
            <a:r>
              <a:rPr lang="en-US" sz="3200" b="1" dirty="0"/>
              <a:t>battery or capacitor</a:t>
            </a:r>
            <a:r>
              <a:rPr lang="en-US" sz="3200" dirty="0"/>
              <a:t>.</a:t>
            </a:r>
          </a:p>
          <a:p>
            <a:pPr algn="just"/>
            <a:r>
              <a:rPr lang="en-US" sz="3200" dirty="0"/>
              <a:t>7. The stored energy is used to power </a:t>
            </a:r>
            <a:r>
              <a:rPr lang="en-US" sz="3200" b="1" dirty="0"/>
              <a:t>low-power devices</a:t>
            </a:r>
            <a:r>
              <a:rPr lang="en-US" sz="3200" dirty="0"/>
              <a:t> such as LEDs, sensors, or IoT modules.</a:t>
            </a:r>
          </a:p>
          <a:p>
            <a:endParaRPr lang="en-IN" sz="3200" dirty="0"/>
          </a:p>
        </p:txBody>
      </p:sp>
      <p:sp>
        <p:nvSpPr>
          <p:cNvPr id="3" name="Rectangle 2">
            <a:extLst>
              <a:ext uri="{FF2B5EF4-FFF2-40B4-BE49-F238E27FC236}">
                <a16:creationId xmlns:a16="http://schemas.microsoft.com/office/drawing/2014/main" id="{0290C03A-0D42-E300-B698-D70D11D6FA35}"/>
              </a:ext>
            </a:extLst>
          </p:cNvPr>
          <p:cNvSpPr/>
          <p:nvPr/>
        </p:nvSpPr>
        <p:spPr>
          <a:xfrm>
            <a:off x="1312699" y="710328"/>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4000" b="1" dirty="0"/>
              <a:t>    Working Principle</a:t>
            </a:r>
          </a:p>
        </p:txBody>
      </p:sp>
    </p:spTree>
    <p:extLst>
      <p:ext uri="{BB962C8B-B14F-4D97-AF65-F5344CB8AC3E}">
        <p14:creationId xmlns:p14="http://schemas.microsoft.com/office/powerpoint/2010/main" val="312073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799673-DA65-7F58-2682-5EC04B31B9C3}"/>
              </a:ext>
            </a:extLst>
          </p:cNvPr>
          <p:cNvSpPr txBox="1"/>
          <p:nvPr/>
        </p:nvSpPr>
        <p:spPr>
          <a:xfrm>
            <a:off x="1430216" y="1852246"/>
            <a:ext cx="11009689" cy="6093976"/>
          </a:xfrm>
          <a:prstGeom prst="rect">
            <a:avLst/>
          </a:prstGeom>
          <a:noFill/>
        </p:spPr>
        <p:txBody>
          <a:bodyPr wrap="square" rtlCol="0">
            <a:spAutoFit/>
          </a:bodyPr>
          <a:lstStyle/>
          <a:p>
            <a:pPr marL="514350" indent="-514350">
              <a:buFont typeface="+mj-lt"/>
              <a:buAutoNum type="arabicPeriod"/>
            </a:pPr>
            <a:r>
              <a:rPr lang="en-IN" sz="3000" dirty="0"/>
              <a:t>Piezoelectric Sensor (Piezo Disc)</a:t>
            </a:r>
          </a:p>
          <a:p>
            <a:pPr marL="514350" indent="-514350">
              <a:buFont typeface="+mj-lt"/>
              <a:buAutoNum type="arabicPeriod"/>
            </a:pPr>
            <a:r>
              <a:rPr lang="en-IN" sz="3000" dirty="0"/>
              <a:t>Bridge Rectifier (Schottky diodes – 1N5819)</a:t>
            </a:r>
          </a:p>
          <a:p>
            <a:pPr marL="514350" indent="-514350">
              <a:buFont typeface="+mj-lt"/>
              <a:buAutoNum type="arabicPeriod"/>
            </a:pPr>
            <a:r>
              <a:rPr lang="en-IN" sz="3000" dirty="0"/>
              <a:t>Capacitor / Supercapacitor (for energy storage)</a:t>
            </a:r>
          </a:p>
          <a:p>
            <a:pPr marL="514350" indent="-514350">
              <a:buFont typeface="+mj-lt"/>
              <a:buAutoNum type="arabicPeriod"/>
            </a:pPr>
            <a:r>
              <a:rPr lang="en-IN" sz="3000" dirty="0"/>
              <a:t>Rechargeable Battery (Li-ion / Li-Po 3.7 V)</a:t>
            </a:r>
          </a:p>
          <a:p>
            <a:pPr marL="514350" indent="-514350">
              <a:buFont typeface="+mj-lt"/>
              <a:buAutoNum type="arabicPeriod"/>
            </a:pPr>
            <a:r>
              <a:rPr lang="en-IN" sz="3000" dirty="0"/>
              <a:t>Power Management / Charging Module (TP4056)</a:t>
            </a:r>
          </a:p>
          <a:p>
            <a:pPr marL="514350" indent="-514350">
              <a:buFont typeface="+mj-lt"/>
              <a:buAutoNum type="arabicPeriod"/>
            </a:pPr>
            <a:r>
              <a:rPr lang="en-IN" sz="3000" dirty="0"/>
              <a:t>DC-DC Boost Converter (to get stable 5 V / 3.3 V)</a:t>
            </a:r>
          </a:p>
          <a:p>
            <a:pPr marL="514350" indent="-514350">
              <a:buFont typeface="+mj-lt"/>
              <a:buAutoNum type="arabicPeriod"/>
            </a:pPr>
            <a:r>
              <a:rPr lang="en-IN" sz="3000" dirty="0"/>
              <a:t>ESP32 Microcontroller</a:t>
            </a:r>
          </a:p>
          <a:p>
            <a:pPr marL="514350" indent="-514350">
              <a:buFont typeface="+mj-lt"/>
              <a:buAutoNum type="arabicPeriod"/>
            </a:pPr>
            <a:r>
              <a:rPr lang="en-IN" sz="3000" dirty="0"/>
              <a:t>Voltage Regulator (3.3 V for ESP32)</a:t>
            </a:r>
          </a:p>
          <a:p>
            <a:pPr marL="514350" indent="-514350">
              <a:buFont typeface="+mj-lt"/>
              <a:buAutoNum type="arabicPeriod"/>
            </a:pPr>
            <a:r>
              <a:rPr lang="en-IN" sz="3000" dirty="0"/>
              <a:t>LED / Sensor (Load)</a:t>
            </a:r>
          </a:p>
          <a:p>
            <a:pPr marL="514350" indent="-514350">
              <a:buFont typeface="+mj-lt"/>
              <a:buAutoNum type="arabicPeriod"/>
            </a:pPr>
            <a:r>
              <a:rPr lang="en-IN" sz="3000" dirty="0"/>
              <a:t>Resistors and Capacitors</a:t>
            </a:r>
          </a:p>
          <a:p>
            <a:pPr marL="514350" indent="-514350">
              <a:buFont typeface="+mj-lt"/>
              <a:buAutoNum type="arabicPeriod"/>
            </a:pPr>
            <a:r>
              <a:rPr lang="en-IN" sz="3000" dirty="0"/>
              <a:t>Breadboard / PCB</a:t>
            </a:r>
          </a:p>
          <a:p>
            <a:pPr marL="514350" indent="-514350">
              <a:buFont typeface="+mj-lt"/>
              <a:buAutoNum type="arabicPeriod"/>
            </a:pPr>
            <a:r>
              <a:rPr lang="en-IN" sz="3000" dirty="0"/>
              <a:t>Connecting Wires</a:t>
            </a:r>
          </a:p>
          <a:p>
            <a:endParaRPr lang="en-IN" sz="3000" dirty="0"/>
          </a:p>
        </p:txBody>
      </p:sp>
      <p:sp>
        <p:nvSpPr>
          <p:cNvPr id="4" name="Rectangle 3">
            <a:extLst>
              <a:ext uri="{FF2B5EF4-FFF2-40B4-BE49-F238E27FC236}">
                <a16:creationId xmlns:a16="http://schemas.microsoft.com/office/drawing/2014/main" id="{728AFAC3-E672-20D6-5BFE-D26F811EE138}"/>
              </a:ext>
            </a:extLst>
          </p:cNvPr>
          <p:cNvSpPr/>
          <p:nvPr/>
        </p:nvSpPr>
        <p:spPr>
          <a:xfrm>
            <a:off x="831965" y="691662"/>
            <a:ext cx="5107258" cy="7385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4000" dirty="0">
                <a:latin typeface="Times New Roman" panose="02020603050405020304" pitchFamily="18" charset="0"/>
                <a:cs typeface="Times New Roman" panose="02020603050405020304" pitchFamily="18" charset="0"/>
              </a:rPr>
              <a:t>Component</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1396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73F696-63EA-FACB-6AEA-39DC795D4FCF}"/>
              </a:ext>
            </a:extLst>
          </p:cNvPr>
          <p:cNvSpPr/>
          <p:nvPr/>
        </p:nvSpPr>
        <p:spPr>
          <a:xfrm>
            <a:off x="849781" y="586602"/>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4000" b="1" dirty="0"/>
              <a:t>    </a:t>
            </a:r>
            <a:r>
              <a:rPr lang="en-IN" sz="4000" b="1" dirty="0"/>
              <a:t>Completed Work</a:t>
            </a:r>
          </a:p>
        </p:txBody>
      </p:sp>
      <p:pic>
        <p:nvPicPr>
          <p:cNvPr id="4" name="Picture 3">
            <a:extLst>
              <a:ext uri="{FF2B5EF4-FFF2-40B4-BE49-F238E27FC236}">
                <a16:creationId xmlns:a16="http://schemas.microsoft.com/office/drawing/2014/main" id="{4ABAC72E-1671-F87B-8025-55E1E64E2F89}"/>
              </a:ext>
            </a:extLst>
          </p:cNvPr>
          <p:cNvPicPr>
            <a:picLocks noChangeAspect="1"/>
          </p:cNvPicPr>
          <p:nvPr/>
        </p:nvPicPr>
        <p:blipFill>
          <a:blip r:embed="rId2"/>
          <a:stretch>
            <a:fillRect/>
          </a:stretch>
        </p:blipFill>
        <p:spPr>
          <a:xfrm>
            <a:off x="1219200" y="1424568"/>
            <a:ext cx="12192000" cy="6503949"/>
          </a:xfrm>
          <a:prstGeom prst="rect">
            <a:avLst/>
          </a:prstGeom>
        </p:spPr>
      </p:pic>
    </p:spTree>
    <p:extLst>
      <p:ext uri="{BB962C8B-B14F-4D97-AF65-F5344CB8AC3E}">
        <p14:creationId xmlns:p14="http://schemas.microsoft.com/office/powerpoint/2010/main" val="715316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8BDF14-80EA-7418-A33C-732F410D46C2}"/>
              </a:ext>
            </a:extLst>
          </p:cNvPr>
          <p:cNvSpPr txBox="1"/>
          <p:nvPr/>
        </p:nvSpPr>
        <p:spPr>
          <a:xfrm>
            <a:off x="1500267" y="2635984"/>
            <a:ext cx="9768468" cy="2062103"/>
          </a:xfrm>
          <a:prstGeom prst="rect">
            <a:avLst/>
          </a:prstGeom>
          <a:noFill/>
        </p:spPr>
        <p:txBody>
          <a:bodyPr wrap="square">
            <a:spAutoFit/>
          </a:bodyPr>
          <a:lstStyle/>
          <a:p>
            <a:r>
              <a:rPr lang="en-US" sz="3200" dirty="0"/>
              <a:t>• Improved efficiency of sensors.</a:t>
            </a:r>
          </a:p>
          <a:p>
            <a:r>
              <a:rPr lang="en-US" sz="3200" dirty="0"/>
              <a:t>• Integration with smart grids.</a:t>
            </a:r>
          </a:p>
          <a:p>
            <a:r>
              <a:rPr lang="en-US" sz="3200" dirty="0"/>
              <a:t>• Large-scale implementation in cities.</a:t>
            </a:r>
          </a:p>
          <a:p>
            <a:r>
              <a:rPr lang="en-US" sz="3200" dirty="0"/>
              <a:t>• Hybrid energy harvesting systems.</a:t>
            </a:r>
            <a:endParaRPr lang="en-IN" sz="3200" dirty="0"/>
          </a:p>
        </p:txBody>
      </p:sp>
      <p:sp>
        <p:nvSpPr>
          <p:cNvPr id="6" name="Rectangle 5">
            <a:extLst>
              <a:ext uri="{FF2B5EF4-FFF2-40B4-BE49-F238E27FC236}">
                <a16:creationId xmlns:a16="http://schemas.microsoft.com/office/drawing/2014/main" id="{DB46F619-329D-A750-F479-D8886A97C915}"/>
              </a:ext>
            </a:extLst>
          </p:cNvPr>
          <p:cNvSpPr/>
          <p:nvPr/>
        </p:nvSpPr>
        <p:spPr>
          <a:xfrm>
            <a:off x="1277243" y="1263927"/>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4000" b="1" dirty="0"/>
              <a:t>    </a:t>
            </a:r>
            <a:r>
              <a:rPr lang="en-IN" sz="4000" b="1" dirty="0"/>
              <a:t>Future Scope</a:t>
            </a:r>
          </a:p>
        </p:txBody>
      </p:sp>
    </p:spTree>
    <p:extLst>
      <p:ext uri="{BB962C8B-B14F-4D97-AF65-F5344CB8AC3E}">
        <p14:creationId xmlns:p14="http://schemas.microsoft.com/office/powerpoint/2010/main" val="2601022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EFA5293-37CE-8C18-1242-83832AD75BB2}"/>
              </a:ext>
            </a:extLst>
          </p:cNvPr>
          <p:cNvSpPr>
            <a:spLocks noChangeArrowheads="1"/>
          </p:cNvSpPr>
          <p:nvPr/>
        </p:nvSpPr>
        <p:spPr bwMode="auto">
          <a:xfrm>
            <a:off x="781683" y="2287355"/>
            <a:ext cx="13848717"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Noise energy harvesting is a promising renewable technology.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converts wasted environmental noise into useful electrical 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supports sustainability and aligns with </a:t>
            </a:r>
            <a:r>
              <a:rPr kumimoji="0" lang="en-US" altLang="en-US" sz="3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7: Affordable and Clean Energy</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suitable for powering low-power devices such as sensors and IoT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F48B27FA-93B4-F78A-99E9-4E6169FFCD64}"/>
              </a:ext>
            </a:extLst>
          </p:cNvPr>
          <p:cNvSpPr/>
          <p:nvPr/>
        </p:nvSpPr>
        <p:spPr>
          <a:xfrm>
            <a:off x="1109404" y="1060162"/>
            <a:ext cx="5107258" cy="5910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4000" b="1" dirty="0"/>
              <a:t>    </a:t>
            </a:r>
            <a:r>
              <a:rPr lang="en-IN" sz="4000" dirty="0"/>
              <a:t>Conclusion:-</a:t>
            </a:r>
          </a:p>
        </p:txBody>
      </p:sp>
    </p:spTree>
    <p:extLst>
      <p:ext uri="{BB962C8B-B14F-4D97-AF65-F5344CB8AC3E}">
        <p14:creationId xmlns:p14="http://schemas.microsoft.com/office/powerpoint/2010/main" val="2514553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305C1E-10B3-52FE-9729-2158E9F92F37}"/>
              </a:ext>
            </a:extLst>
          </p:cNvPr>
          <p:cNvSpPr txBox="1"/>
          <p:nvPr/>
        </p:nvSpPr>
        <p:spPr>
          <a:xfrm>
            <a:off x="5086705" y="2966225"/>
            <a:ext cx="4900059" cy="1323439"/>
          </a:xfrm>
          <a:prstGeom prst="rect">
            <a:avLst/>
          </a:prstGeom>
          <a:noFill/>
        </p:spPr>
        <p:txBody>
          <a:bodyPr wrap="none" rtlCol="0">
            <a:spAutoFit/>
          </a:bodyPr>
          <a:lstStyle/>
          <a:p>
            <a:r>
              <a:rPr lang="en-IN" sz="8000" b="1" dirty="0">
                <a:solidFill>
                  <a:srgbClr val="7030A0"/>
                </a:solidFill>
                <a:latin typeface="Bodoni MT" panose="02070603080606020203" pitchFamily="18" charset="0"/>
              </a:rPr>
              <a:t>Thank You</a:t>
            </a:r>
          </a:p>
        </p:txBody>
      </p:sp>
      <p:sp>
        <p:nvSpPr>
          <p:cNvPr id="6" name="TextBox 5">
            <a:extLst>
              <a:ext uri="{FF2B5EF4-FFF2-40B4-BE49-F238E27FC236}">
                <a16:creationId xmlns:a16="http://schemas.microsoft.com/office/drawing/2014/main" id="{7D5CFF29-8ED3-8371-C566-9894ADBB1798}"/>
              </a:ext>
            </a:extLst>
          </p:cNvPr>
          <p:cNvSpPr txBox="1"/>
          <p:nvPr/>
        </p:nvSpPr>
        <p:spPr>
          <a:xfrm>
            <a:off x="2936855" y="4289664"/>
            <a:ext cx="9199758" cy="707886"/>
          </a:xfrm>
          <a:prstGeom prst="rect">
            <a:avLst/>
          </a:prstGeom>
          <a:noFill/>
        </p:spPr>
        <p:txBody>
          <a:bodyPr wrap="square">
            <a:spAutoFit/>
          </a:bodyPr>
          <a:lstStyle/>
          <a:p>
            <a:pPr>
              <a:buNone/>
            </a:pPr>
            <a:r>
              <a:rPr lang="en-US" sz="4000" dirty="0"/>
              <a:t>      We appreciate your time and attention</a:t>
            </a:r>
          </a:p>
        </p:txBody>
      </p:sp>
    </p:spTree>
    <p:extLst>
      <p:ext uri="{BB962C8B-B14F-4D97-AF65-F5344CB8AC3E}">
        <p14:creationId xmlns:p14="http://schemas.microsoft.com/office/powerpoint/2010/main" val="2974702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TotalTime>
  <Words>523</Words>
  <Application>Microsoft Office PowerPoint</Application>
  <PresentationFormat>Custom</PresentationFormat>
  <Paragraphs>63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Bodoni MT</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kiranmaske043@outlook.com</cp:lastModifiedBy>
  <cp:revision>18</cp:revision>
  <dcterms:created xsi:type="dcterms:W3CDTF">2025-08-29T02:34:02Z</dcterms:created>
  <dcterms:modified xsi:type="dcterms:W3CDTF">2026-03-27T16:36:35Z</dcterms:modified>
</cp:coreProperties>
</file>